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bf539938e094e37" /><Relationship Type="http://schemas.openxmlformats.org/package/2006/relationships/metadata/core-properties" Target="/docProps/core.xml" Id="Ra3caf403c55c4833" /><Relationship Type="http://schemas.openxmlformats.org/officeDocument/2006/relationships/extended-properties" Target="/docProps/app.xml" Id="R4b9da33d716f48ee" /><Relationship Type="http://schemas.openxmlformats.org/officeDocument/2006/relationships/custom-properties" Target="/docProps/custom.xml" Id="Rc2c2c5149c2443f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20033fb9a254ddf"/>
  </p:notesMasterIdLst>
  <p:sldIdLst>
    <p:sldId id="256" r:id="Ra68213ae5c524741"/>
    <p:sldId id="257" r:id="Re20736c47e2c45c5"/>
    <p:sldId id="258" r:id="R5779925ccf1947cb"/>
    <p:sldId id="259" r:id="R134d11cbce224dab"/>
    <p:sldId id="260" r:id="R99011e491f634029"/>
    <p:sldId id="261" r:id="R154872bd4d3c43db"/>
    <p:sldId id="262" r:id="R2735f467dd734c91"/>
    <p:sldId id="263" r:id="R4f5453c3dddb46ad"/>
    <p:sldId id="264" r:id="Rdaefd67e7e9044d1"/>
    <p:sldId id="265" r:id="R12d12682a5694126"/>
    <p:sldId id="266" r:id="Racc76b9104a041f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68213ae5c524741" /><Relationship Type="http://schemas.openxmlformats.org/officeDocument/2006/relationships/notesMaster" Target="/ppt/notesMasters/notesMaster1.xml" Id="R720033fb9a254ddf" /><Relationship Type="http://schemas.openxmlformats.org/officeDocument/2006/relationships/slide" Target="/ppt/slides/slide2.xml" Id="Re20736c47e2c45c5" /><Relationship Type="http://schemas.openxmlformats.org/officeDocument/2006/relationships/slide" Target="/ppt/slides/slide3.xml" Id="R5779925ccf1947cb" /><Relationship Type="http://schemas.openxmlformats.org/officeDocument/2006/relationships/slide" Target="/ppt/slides/slide4.xml" Id="R134d11cbce224dab" /><Relationship Type="http://schemas.openxmlformats.org/officeDocument/2006/relationships/slide" Target="/ppt/slides/slide5.xml" Id="R99011e491f634029" /><Relationship Type="http://schemas.openxmlformats.org/officeDocument/2006/relationships/slide" Target="/ppt/slides/slide6.xml" Id="R154872bd4d3c43db" /><Relationship Type="http://schemas.openxmlformats.org/officeDocument/2006/relationships/slide" Target="/ppt/slides/slide7.xml" Id="R2735f467dd734c91" /><Relationship Type="http://schemas.openxmlformats.org/officeDocument/2006/relationships/slide" Target="/ppt/slides/slide8.xml" Id="R4f5453c3dddb46ad" /><Relationship Type="http://schemas.openxmlformats.org/officeDocument/2006/relationships/slide" Target="/ppt/slides/slide9.xml" Id="Rdaefd67e7e9044d1" /><Relationship Type="http://schemas.openxmlformats.org/officeDocument/2006/relationships/slide" Target="/ppt/slides/slide10.xml" Id="R12d12682a5694126" /><Relationship Type="http://schemas.openxmlformats.org/officeDocument/2006/relationships/slide" Target="/ppt/slides/slide11.xml" Id="Racc76b9104a0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572ea8b9edf419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bf34fb3a1fd4b28" /><Relationship Type="http://schemas.openxmlformats.org/officeDocument/2006/relationships/slide" Target="/ppt/slides/slide1.xml" Id="Rc6cf87619beb48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4e39f5c1e3f43d8" /><Relationship Type="http://schemas.openxmlformats.org/officeDocument/2006/relationships/slide" Target="/ppt/slides/slide2.xml" Id="Ra41db029335246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55071c5e09f47fb" /><Relationship Type="http://schemas.openxmlformats.org/officeDocument/2006/relationships/slide" Target="/ppt/slides/slide3.xml" Id="R3df0f91a02614b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741215dbadc4533" /><Relationship Type="http://schemas.openxmlformats.org/officeDocument/2006/relationships/slide" Target="/ppt/slides/slide4.xml" Id="R8f8df030cee340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e8955a6db10452a" /><Relationship Type="http://schemas.openxmlformats.org/officeDocument/2006/relationships/slide" Target="/ppt/slides/slide5.xml" Id="R1f477577d0954d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e2fdb532ca94e54" /><Relationship Type="http://schemas.openxmlformats.org/officeDocument/2006/relationships/slide" Target="/ppt/slides/slide6.xml" Id="R5e90b539f01e48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b832832bf7e4779" /><Relationship Type="http://schemas.openxmlformats.org/officeDocument/2006/relationships/slide" Target="/ppt/slides/slide7.xml" Id="Rff14d4e1093f41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0d42c63abc24f56" /><Relationship Type="http://schemas.openxmlformats.org/officeDocument/2006/relationships/slide" Target="/ppt/slides/slide8.xml" Id="R037f919de1a44d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4ec0104db634036" /><Relationship Type="http://schemas.openxmlformats.org/officeDocument/2006/relationships/slide" Target="/ppt/slides/slide9.xml" Id="Ra969004c543149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b7e2413b38a4acc" /><Relationship Type="http://schemas.openxmlformats.org/officeDocument/2006/relationships/slide" Target="/ppt/slides/slide10.xml" Id="R56ae6108b41e4b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74834b92aeb4a77" /><Relationship Type="http://schemas.openxmlformats.org/officeDocument/2006/relationships/slide" Target="/ppt/slides/slide11.xml" Id="R31a6050397cf48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Eco Lifestyle Agent — a RAG-powered AI assistant for sustainable living. Built with IBM Bob using IBM Granite LLM.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core problem: people want to live sustainably but don't know where to start or which actions make the biggest difference. Information is fragmented and unreliable.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solution: a single conversational AI that brings together all eco-lifestyle knowledge, RAG retrieval, and LLM generation to deliver grounded, personalised sustainability guidance.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RAG flow: User question → embed with MiniLM → FAISS cosine similarity search → top-3 chunks retrieved → injected into IBM Granite prompt → grounded answer returned with source citations.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Technology stack: RAG architecture, Agentic AI (EcoAgent), IBM Granite LLM (recommended), sentence-transformers embeddings, FAISS vector store, FastAPI backend, vanilla frontend. Built entirely with IBM Bob.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primary user personas: homeowners wanting grants, students on a budget, sustainability professionals, educators, complete beginners, and eco-commuters. All require no prior knowledge.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agent directly supports 10 of the 17 UN SDGs. Primary: SDG 7 (Clean Energy), SDG 12 (Responsible Consumption), SDG 13 (Climate Action), SDG 15 (Life on Land). Supporting: SDGs 3,4,6,11,14,17.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knowledge base covers 10 major eco-lifestyle topics with ~6,000 words of curated, fact-checked content including government schemes, CO2 statistics, and product recommendations.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Impact slide: Individual actions facilitated by EcoAgent can save 1.5 tonnes CO2/year per user (diet shift), £800/year in food waste, 700 plastic bags/year, and unlock £7,500 in government grants.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Demo slide. Run with one command: .venv/Scripts/python.exe main.py then open localhost:8000. For IBM Granite: ollama pull granite3.1-dense and set LLM_PROVIDER=ollama in .env.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Key messages: RAG-powered, grounded in knowledge, IBM Granite recommended, IBM Bob used for development, 10 SDGs addressed.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ccb3495234b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e444861ab4c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17722222544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36e1191bf46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b77d3c50f475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479e9f50081432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a6f1ed2348a3" /><Relationship Type="http://schemas.openxmlformats.org/officeDocument/2006/relationships/notesSlide" Target="/ppt/notesSlides/notesSlide1.xml" Id="Rc61760da40be45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7495ecfed41b2" /><Relationship Type="http://schemas.openxmlformats.org/officeDocument/2006/relationships/notesSlide" Target="/ppt/notesSlides/notesSlide2.xml" Id="Ra81ee63e046d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418c104874200" /><Relationship Type="http://schemas.openxmlformats.org/officeDocument/2006/relationships/notesSlide" Target="/ppt/notesSlides/notesSlide3.xml" Id="R615235af467f4a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312ab12754eb7" /><Relationship Type="http://schemas.openxmlformats.org/officeDocument/2006/relationships/notesSlide" Target="/ppt/notesSlides/notesSlide4.xml" Id="Rbfbc97bf0c3345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85c413d8a4059" /><Relationship Type="http://schemas.openxmlformats.org/officeDocument/2006/relationships/notesSlide" Target="/ppt/notesSlides/notesSlide5.xml" Id="R140b2662eb6b4f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2b42ad5d940c6" /><Relationship Type="http://schemas.openxmlformats.org/officeDocument/2006/relationships/notesSlide" Target="/ppt/notesSlides/notesSlide6.xml" Id="R8726a7df091b46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3e606b37b4e24" /><Relationship Type="http://schemas.openxmlformats.org/officeDocument/2006/relationships/notesSlide" Target="/ppt/notesSlides/notesSlide7.xml" Id="Rc07cbfc86e294f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ec2d7433e4c74" /><Relationship Type="http://schemas.openxmlformats.org/officeDocument/2006/relationships/notesSlide" Target="/ppt/notesSlides/notesSlide8.xml" Id="R6cf1e232fd8a48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7fb96635c4f45" /><Relationship Type="http://schemas.openxmlformats.org/officeDocument/2006/relationships/notesSlide" Target="/ppt/notesSlides/notesSlide9.xml" Id="Rd10c3404ecd544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c6cbd132a4b73" /><Relationship Type="http://schemas.openxmlformats.org/officeDocument/2006/relationships/notesSlide" Target="/ppt/notesSlides/notesSlide10.xml" Id="Re35761fad1dc4e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7733206b04e2f" /><Relationship Type="http://schemas.openxmlformats.org/officeDocument/2006/relationships/notesSlide" Target="/ppt/notesSlides/notesSlide11.xml" Id="R93ca2c701f5943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4731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01" name="Icon"/>
          <p:cNvSpPr txBox="1"/>
          <p:nvPr/>
        </p:nvSpPr>
        <p:spPr>
          <a:xfrm xmlns:a="http://schemas.openxmlformats.org/drawingml/2006/main">
            <a:off x="4860000" y="540000"/>
            <a:ext cx="252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A5D6A7"/>
                </a:solidFill>
              </a:rPr>
              <a:t>🌿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720000" y="180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A5D6A7"/>
                </a:solidFill>
              </a:rPr>
              <a:t>Eco Lifestyle Agent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720000" y="2988000"/>
            <a:ext cx="107532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C8E6C9"/>
                </a:solidFill>
              </a:rPr>
              <a:t>RAG-Powered Sustainable Living AI</a:t>
            </a:r>
          </a:p>
        </p:txBody>
      </p:sp>
      <p:sp>
        <p:nvSpPr>
          <p:cNvPr id="100004" name="Tagline"/>
          <p:cNvSpPr txBox="1"/>
          <p:nvPr/>
        </p:nvSpPr>
        <p:spPr>
          <a:xfrm xmlns:a="http://schemas.openxmlformats.org/drawingml/2006/main">
            <a:off x="1080000" y="3672000"/>
            <a:ext cx="100332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81C784"/>
                </a:solidFill>
              </a:rPr>
              <a:t>Empowering individuals to adopt a greener lifestyle through personalised, AI-driven guidance</a:t>
            </a:r>
          </a:p>
        </p:txBody>
      </p:sp>
      <p:sp>
        <p:nvSpPr>
          <p:cNvPr id="100005" name="BottomBar"/>
          <p:cNvSpPr txBox="1"/>
          <p:nvPr/>
        </p:nvSpPr>
        <p:spPr>
          <a:xfrm xmlns:a="http://schemas.openxmlformats.org/drawingml/2006/main">
            <a:off x="0" y="640800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5D6A7"/>
                </a:solidFill>
              </a:rPr>
              <a:t>Built with IBM Bob  •  Powered by IBM Granite  •  RAG + Agentic AI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DF8"/>
        </a:solidFill>
      </p:bgPr>
    </p:bg>
    <p:spTree>
      <p:nvGrpSpPr>
        <p:cNvPr id="1" name=""/>
        <p:cNvGrpSpPr/>
        <p:nvPr/>
      </p:nvGrpSpPr>
      <p:grpSpPr/>
      <p:sp>
        <p:nvSpPr>
          <p:cNvPr id="100006" name="Top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7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4731"/>
              </a:solidFill>
            </a:endParaRPr>
          </a:p>
        </p:txBody>
      </p:sp>
      <p:sp>
        <p:nvSpPr>
          <p:cNvPr id="100007" name="SlideLabel"/>
          <p:cNvSpPr txBox="1"/>
          <p:nvPr/>
        </p:nvSpPr>
        <p:spPr>
          <a:xfrm xmlns:a="http://schemas.openxmlformats.org/drawingml/2006/main">
            <a:off x="540000" y="72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A5D6A7"/>
                </a:solidFill>
              </a:rPr>
              <a:t>01  |  PROBLEM STATEMENT</a:t>
            </a:r>
          </a:p>
        </p:txBody>
      </p:sp>
      <p:sp>
        <p:nvSpPr>
          <p:cNvPr id="100008" name="Title"/>
          <p:cNvSpPr txBox="1"/>
          <p:nvPr/>
        </p:nvSpPr>
        <p:spPr>
          <a:xfrm xmlns:a="http://schemas.openxmlformats.org/drawingml/2006/main">
            <a:off x="540000" y="648000"/>
            <a:ext cx="90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4731"/>
                </a:solidFill>
              </a:rPr>
              <a:t>The Problem</a:t>
            </a:r>
          </a:p>
        </p:txBody>
      </p:sp>
      <p:sp>
        <p:nvSpPr>
          <p:cNvPr id="100009" name="GreenLine"/>
          <p:cNvSpPr txBox="1"/>
          <p:nvPr/>
        </p:nvSpPr>
        <p:spPr>
          <a:xfrm xmlns:a="http://schemas.openxmlformats.org/drawingml/2006/main">
            <a:off x="540000" y="1260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10" name="Body"/>
          <p:cNvSpPr txBox="1"/>
          <p:nvPr/>
        </p:nvSpPr>
        <p:spPr>
          <a:xfrm xmlns:a="http://schemas.openxmlformats.org/drawingml/2006/main">
            <a:off x="540000" y="1368000"/>
            <a:ext cx="64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B3C"/>
                </a:solidFill>
              </a:rPr>
              <a:t>Despite growing awareness of climate change, most individuals struggle to translate concern into consistent daily action.</a:t>
            </a:r>
          </a:p>
          <a:p xmlns:a="http://schemas.openxmlformats.org/drawingml/2006/main">
            <a:r>
              <a:rPr lang="en-US" sz="1800">
                <a:solidFill>
                  <a:srgbClr val="374B3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B3C"/>
                </a:solidFill>
              </a:rPr>
              <a:t>Sustainability guidance is scattered across hundreds of websites, government portals, and scientific reports — making it overwhelming, inconsistent, and hard to personalise.</a:t>
            </a:r>
          </a:p>
          <a:p xmlns:a="http://schemas.openxmlformats.org/drawingml/2006/main">
            <a:r>
              <a:rPr lang="en-US" sz="1800">
                <a:solidFill>
                  <a:srgbClr val="374B3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B3C"/>
                </a:solidFill>
              </a:rPr>
              <a:t>People lack a single trusted source to answer questions like:</a:t>
            </a:r>
          </a:p>
          <a:p xmlns:a="http://schemas.openxmlformats.org/drawingml/2006/main">
            <a:r>
              <a:rPr lang="en-US" sz="1800">
                <a:solidFill>
                  <a:srgbClr val="374B3C"/>
                </a:solidFill>
              </a:rPr>
              <a:t>  "How do I reduce plastic at home?"</a:t>
            </a:r>
          </a:p>
          <a:p xmlns:a="http://schemas.openxmlformats.org/drawingml/2006/main">
            <a:r>
              <a:rPr lang="en-US" sz="1800">
                <a:solidFill>
                  <a:srgbClr val="374B3C"/>
                </a:solidFill>
              </a:rPr>
              <a:t>  "What grants are available for solar panels?"</a:t>
            </a:r>
          </a:p>
          <a:p xmlns:a="http://schemas.openxmlformats.org/drawingml/2006/main">
            <a:r>
              <a:rPr lang="en-US" sz="1800">
                <a:solidFill>
                  <a:srgbClr val="374B3C"/>
                </a:solidFill>
              </a:rPr>
              <a:t>  "Which foods have the lowest carbon footprint?"</a:t>
            </a:r>
          </a:p>
        </p:txBody>
      </p:sp>
      <p:sp>
        <p:nvSpPr>
          <p:cNvPr id="100011" name="StatBox1"/>
          <p:cNvSpPr txBox="1"/>
          <p:nvPr/>
        </p:nvSpPr>
        <p:spPr>
          <a:xfrm xmlns:a="http://schemas.openxmlformats.org/drawingml/2006/main">
            <a:off x="7560000" y="1260000"/>
            <a:ext cx="39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A4731"/>
                </a:solidFill>
              </a:rPr>
              <a:t>380M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1A4731"/>
                </a:solidFill>
              </a:rPr>
              <a:t>tonnes of plastic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1A4731"/>
                </a:solidFill>
              </a:rPr>
              <a:t>produced yearly</a:t>
            </a:r>
          </a:p>
        </p:txBody>
      </p:sp>
      <p:sp>
        <p:nvSpPr>
          <p:cNvPr id="100012" name="StatBox2"/>
          <p:cNvSpPr txBox="1"/>
          <p:nvPr/>
        </p:nvSpPr>
        <p:spPr>
          <a:xfrm xmlns:a="http://schemas.openxmlformats.org/drawingml/2006/main">
            <a:off x="7560000" y="2880000"/>
            <a:ext cx="39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A4731"/>
                </a:solidFill>
              </a:rPr>
              <a:t>26%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1A4731"/>
                </a:solidFill>
              </a:rPr>
              <a:t>of global GHG from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1A4731"/>
                </a:solidFill>
              </a:rPr>
              <a:t>food systems alone</a:t>
            </a:r>
          </a:p>
        </p:txBody>
      </p:sp>
      <p:sp>
        <p:nvSpPr>
          <p:cNvPr id="100013" name="StatBox3"/>
          <p:cNvSpPr txBox="1"/>
          <p:nvPr/>
        </p:nvSpPr>
        <p:spPr>
          <a:xfrm xmlns:a="http://schemas.openxmlformats.org/drawingml/2006/main">
            <a:off x="7560000" y="4500000"/>
            <a:ext cx="39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A4731"/>
                </a:solidFill>
              </a:rPr>
              <a:t>10 of 17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1A4731"/>
                </a:solidFill>
              </a:rPr>
              <a:t>SDGs require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1A4731"/>
                </a:solidFill>
              </a:rPr>
              <a:t>individual action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DF8"/>
        </a:solidFill>
      </p:bgPr>
    </p:bg>
    <p:spTree>
      <p:nvGrpSpPr>
        <p:cNvPr id="1" name=""/>
        <p:cNvGrpSpPr/>
        <p:nvPr/>
      </p:nvGrpSpPr>
      <p:grpSpPr/>
      <p:sp>
        <p:nvSpPr>
          <p:cNvPr id="100014" name="Top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7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4731"/>
              </a:solidFill>
            </a:endParaRPr>
          </a:p>
        </p:txBody>
      </p:sp>
      <p:sp>
        <p:nvSpPr>
          <p:cNvPr id="100015" name="SlideLabel"/>
          <p:cNvSpPr txBox="1"/>
          <p:nvPr/>
        </p:nvSpPr>
        <p:spPr>
          <a:xfrm xmlns:a="http://schemas.openxmlformats.org/drawingml/2006/main">
            <a:off x="540000" y="72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A5D6A7"/>
                </a:solidFill>
              </a:rPr>
              <a:t>02  |  THE SOLUTION</a:t>
            </a:r>
          </a:p>
        </p:txBody>
      </p:sp>
      <p:sp>
        <p:nvSpPr>
          <p:cNvPr id="100016" name="Title"/>
          <p:cNvSpPr txBox="1"/>
          <p:nvPr/>
        </p:nvSpPr>
        <p:spPr>
          <a:xfrm xmlns:a="http://schemas.openxmlformats.org/drawingml/2006/main">
            <a:off x="540000" y="648000"/>
            <a:ext cx="90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4731"/>
                </a:solidFill>
              </a:rPr>
              <a:t>Eco Lifestyle Agent</a:t>
            </a:r>
          </a:p>
        </p:txBody>
      </p:sp>
      <p:sp>
        <p:nvSpPr>
          <p:cNvPr id="100017" name="GreenLine"/>
          <p:cNvSpPr txBox="1"/>
          <p:nvPr/>
        </p:nvSpPr>
        <p:spPr>
          <a:xfrm xmlns:a="http://schemas.openxmlformats.org/drawingml/2006/main">
            <a:off x="540000" y="1260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18" name="Desc"/>
          <p:cNvSpPr txBox="1"/>
          <p:nvPr/>
        </p:nvSpPr>
        <p:spPr>
          <a:xfrm xmlns:a="http://schemas.openxmlformats.org/drawingml/2006/main">
            <a:off x="540000" y="1368000"/>
            <a:ext cx="10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B3C"/>
                </a:solidFill>
              </a:rPr>
              <a:t>A RAG-powered, agentic AI assistant that retrieves verified sustainability guidance from a curated knowledge base and delivers instant, personalised, actionable advice through a natural language chat interface.</a:t>
            </a:r>
          </a:p>
        </p:txBody>
      </p:sp>
      <p:sp>
        <p:nvSpPr>
          <p:cNvPr id="100019" name="F1"/>
          <p:cNvSpPr txBox="1"/>
          <p:nvPr/>
        </p:nvSpPr>
        <p:spPr>
          <a:xfrm xmlns:a="http://schemas.openxmlformats.org/drawingml/2006/main">
            <a:off x="540000" y="2700000"/>
            <a:ext cx="27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🌿  10 Eco Topics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Plastics, Energy, Travel,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Food, Recycling, Water,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Biodiversity &amp; more</a:t>
            </a:r>
          </a:p>
        </p:txBody>
      </p:sp>
      <p:sp>
        <p:nvSpPr>
          <p:cNvPr id="100020" name="F2"/>
          <p:cNvSpPr txBox="1"/>
          <p:nvPr/>
        </p:nvSpPr>
        <p:spPr>
          <a:xfrm xmlns:a="http://schemas.openxmlformats.org/drawingml/2006/main">
            <a:off x="3420000" y="2700000"/>
            <a:ext cx="27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🔍  RAG Pipeline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Retrieves top-3 relevant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chunks per query from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22 indexed passages</a:t>
            </a:r>
          </a:p>
        </p:txBody>
      </p:sp>
      <p:sp>
        <p:nvSpPr>
          <p:cNvPr id="100021" name="F3"/>
          <p:cNvSpPr txBox="1"/>
          <p:nvPr/>
        </p:nvSpPr>
        <p:spPr>
          <a:xfrm xmlns:a="http://schemas.openxmlformats.org/drawingml/2006/main">
            <a:off x="6300000" y="2700000"/>
            <a:ext cx="27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🤖  Agentic AI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Multi-turn memory,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prompt engineering &amp;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adaptive LLM routing</a:t>
            </a:r>
          </a:p>
        </p:txBody>
      </p:sp>
      <p:sp>
        <p:nvSpPr>
          <p:cNvPr id="100022" name="F4"/>
          <p:cNvSpPr txBox="1"/>
          <p:nvPr/>
        </p:nvSpPr>
        <p:spPr>
          <a:xfrm xmlns:a="http://schemas.openxmlformats.org/drawingml/2006/main">
            <a:off x="9180000" y="2700000"/>
            <a:ext cx="27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🏛️  Gov. Schemes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UK, US &amp; EU grants,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policies and financial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incentives included</a:t>
            </a:r>
          </a:p>
        </p:txBody>
      </p:sp>
      <p:sp>
        <p:nvSpPr>
          <p:cNvPr id="100023" name="BottomQuote"/>
          <p:cNvSpPr txBox="1"/>
          <p:nvPr/>
        </p:nvSpPr>
        <p:spPr>
          <a:xfrm xmlns:a="http://schemas.openxmlformats.org/drawingml/2006/main">
            <a:off x="540000" y="522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D6A4F"/>
                </a:solidFill>
              </a:rPr>
              <a:t>"Making sustainability easy, accessible and impactful for everyone"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A4731"/>
        </a:solidFill>
      </p:bgPr>
    </p:bg>
    <p:spTree>
      <p:nvGrpSpPr>
        <p:cNvPr id="1" name=""/>
        <p:cNvGrpSpPr/>
        <p:nvPr/>
      </p:nvGrpSpPr>
      <p:grpSpPr/>
      <p:sp>
        <p:nvSpPr>
          <p:cNvPr id="100024" name="TopAccent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25" name="SlideLabel"/>
          <p:cNvSpPr txBox="1"/>
          <p:nvPr/>
        </p:nvSpPr>
        <p:spPr>
          <a:xfrm xmlns:a="http://schemas.openxmlformats.org/drawingml/2006/main">
            <a:off x="540000" y="360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C784"/>
                </a:solidFill>
              </a:rPr>
              <a:t>03  |  HOW IT WORKS</a:t>
            </a:r>
          </a:p>
        </p:txBody>
      </p:sp>
      <p:sp>
        <p:nvSpPr>
          <p:cNvPr id="100026" name="Title"/>
          <p:cNvSpPr txBox="1"/>
          <p:nvPr/>
        </p:nvSpPr>
        <p:spPr>
          <a:xfrm xmlns:a="http://schemas.openxmlformats.org/drawingml/2006/main">
            <a:off x="540000" y="720000"/>
            <a:ext cx="90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A5D6A7"/>
                </a:solidFill>
              </a:rPr>
              <a:t>RAG Architecture</a:t>
            </a:r>
          </a:p>
        </p:txBody>
      </p:sp>
      <p:sp>
        <p:nvSpPr>
          <p:cNvPr id="100027" name="Step1"/>
          <p:cNvSpPr txBox="1"/>
          <p:nvPr/>
        </p:nvSpPr>
        <p:spPr>
          <a:xfrm xmlns:a="http://schemas.openxmlformats.org/drawingml/2006/main">
            <a:off x="360000" y="1620000"/>
            <a:ext cx="2088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1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User Question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Natural language query entered in the chat interface</a:t>
            </a:r>
          </a:p>
        </p:txBody>
      </p:sp>
      <p:sp>
        <p:nvSpPr>
          <p:cNvPr id="100028" name="Arr1"/>
          <p:cNvSpPr txBox="1"/>
          <p:nvPr/>
        </p:nvSpPr>
        <p:spPr>
          <a:xfrm xmlns:a="http://schemas.openxmlformats.org/drawingml/2006/main">
            <a:off x="2520000" y="2700000"/>
            <a:ext cx="5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52B788"/>
                </a:solidFill>
              </a:rPr>
              <a:t>→</a:t>
            </a:r>
          </a:p>
        </p:txBody>
      </p:sp>
      <p:sp>
        <p:nvSpPr>
          <p:cNvPr id="100029" name="Step2"/>
          <p:cNvSpPr txBox="1"/>
          <p:nvPr/>
        </p:nvSpPr>
        <p:spPr>
          <a:xfrm xmlns:a="http://schemas.openxmlformats.org/drawingml/2006/main">
            <a:off x="3132000" y="1620000"/>
            <a:ext cx="2088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2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Embed Query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all-MiniLM-L6-v2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384-dim semantic vector</a:t>
            </a:r>
          </a:p>
        </p:txBody>
      </p:sp>
      <p:sp>
        <p:nvSpPr>
          <p:cNvPr id="100030" name="Arr2"/>
          <p:cNvSpPr txBox="1"/>
          <p:nvPr/>
        </p:nvSpPr>
        <p:spPr>
          <a:xfrm xmlns:a="http://schemas.openxmlformats.org/drawingml/2006/main">
            <a:off x="5292000" y="2700000"/>
            <a:ext cx="5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52B788"/>
                </a:solidFill>
              </a:rPr>
              <a:t>→</a:t>
            </a:r>
          </a:p>
        </p:txBody>
      </p:sp>
      <p:sp>
        <p:nvSpPr>
          <p:cNvPr id="100031" name="Step3"/>
          <p:cNvSpPr txBox="1"/>
          <p:nvPr/>
        </p:nvSpPr>
        <p:spPr>
          <a:xfrm xmlns:a="http://schemas.openxmlformats.org/drawingml/2006/main">
            <a:off x="5904000" y="1620000"/>
            <a:ext cx="2088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6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A4731"/>
                </a:solidFill>
              </a:rPr>
              <a:t>3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A4731"/>
                </a:solidFill>
              </a:rPr>
              <a:t>FAISS Search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A4731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A4731"/>
                </a:solidFill>
              </a:rPr>
              <a:t>Cosine similarity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A4731"/>
                </a:solidFill>
              </a:rPr>
              <a:t>over 22 indexed chunks</a:t>
            </a:r>
          </a:p>
        </p:txBody>
      </p:sp>
      <p:sp>
        <p:nvSpPr>
          <p:cNvPr id="100032" name="Arr3"/>
          <p:cNvSpPr txBox="1"/>
          <p:nvPr/>
        </p:nvSpPr>
        <p:spPr>
          <a:xfrm xmlns:a="http://schemas.openxmlformats.org/drawingml/2006/main">
            <a:off x="8064000" y="2700000"/>
            <a:ext cx="5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52B788"/>
                </a:solidFill>
              </a:rPr>
              <a:t>→</a:t>
            </a:r>
          </a:p>
        </p:txBody>
      </p:sp>
      <p:sp>
        <p:nvSpPr>
          <p:cNvPr id="100033" name="Step4"/>
          <p:cNvSpPr txBox="1"/>
          <p:nvPr/>
        </p:nvSpPr>
        <p:spPr>
          <a:xfrm xmlns:a="http://schemas.openxmlformats.org/drawingml/2006/main">
            <a:off x="8676000" y="1620000"/>
            <a:ext cx="2088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4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LLM Generate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IBM Granite answers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E8F5E9"/>
                </a:solidFill>
              </a:rPr>
              <a:t>grounded in context</a:t>
            </a:r>
          </a:p>
        </p:txBody>
      </p:sp>
      <p:sp>
        <p:nvSpPr>
          <p:cNvPr id="100034" name="Bottom"/>
          <p:cNvSpPr txBox="1"/>
          <p:nvPr/>
        </p:nvSpPr>
        <p:spPr>
          <a:xfrm xmlns:a="http://schemas.openxmlformats.org/drawingml/2006/main">
            <a:off x="360000" y="5040000"/>
            <a:ext cx="1147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1C784"/>
                </a:solidFill>
              </a:rPr>
              <a:t>Every answer is grounded in the knowledge base  •  Sources cited on every response  •  Hallucination eliminated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DF8"/>
        </a:solidFill>
      </p:bgPr>
    </p:bg>
    <p:spTree>
      <p:nvGrpSpPr>
        <p:cNvPr id="1" name=""/>
        <p:cNvGrpSpPr/>
        <p:nvPr/>
      </p:nvGrpSpPr>
      <p:grpSpPr/>
      <p:sp>
        <p:nvSpPr>
          <p:cNvPr id="100035" name="Top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7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4731"/>
              </a:solidFill>
            </a:endParaRPr>
          </a:p>
        </p:txBody>
      </p:sp>
      <p:sp>
        <p:nvSpPr>
          <p:cNvPr id="100036" name="SlideLabel"/>
          <p:cNvSpPr txBox="1"/>
          <p:nvPr/>
        </p:nvSpPr>
        <p:spPr>
          <a:xfrm xmlns:a="http://schemas.openxmlformats.org/drawingml/2006/main">
            <a:off x="540000" y="72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A5D6A7"/>
                </a:solidFill>
              </a:rPr>
              <a:t>04  |  TECHNOLOGIES</a:t>
            </a:r>
          </a:p>
        </p:txBody>
      </p:sp>
      <p:sp>
        <p:nvSpPr>
          <p:cNvPr id="100037" name="Title"/>
          <p:cNvSpPr txBox="1"/>
          <p:nvPr/>
        </p:nvSpPr>
        <p:spPr>
          <a:xfrm xmlns:a="http://schemas.openxmlformats.org/drawingml/2006/main">
            <a:off x="540000" y="648000"/>
            <a:ext cx="90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4731"/>
                </a:solidFill>
              </a:rPr>
              <a:t>AI Technologies Used</a:t>
            </a:r>
          </a:p>
        </p:txBody>
      </p:sp>
      <p:sp>
        <p:nvSpPr>
          <p:cNvPr id="100038" name="GreenLine"/>
          <p:cNvSpPr txBox="1"/>
          <p:nvPr/>
        </p:nvSpPr>
        <p:spPr>
          <a:xfrm xmlns:a="http://schemas.openxmlformats.org/drawingml/2006/main">
            <a:off x="540000" y="1260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39" name="T1"/>
          <p:cNvSpPr txBox="1"/>
          <p:nvPr/>
        </p:nvSpPr>
        <p:spPr>
          <a:xfrm xmlns:a="http://schemas.openxmlformats.org/drawingml/2006/main">
            <a:off x="540000" y="1440000"/>
            <a:ext cx="216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7C4700"/>
                </a:solidFill>
              </a:rPr>
              <a:t>RAG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7C4700"/>
                </a:solidFill>
              </a:rPr>
              <a:t>Retrieval-Augmented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7C4700"/>
                </a:solidFill>
              </a:rPr>
              <a:t>Generation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7C4700"/>
                </a:solidFill>
              </a:rPr>
              <a:t>Grounds every answer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7C4700"/>
                </a:solidFill>
              </a:rPr>
              <a:t>in the knowledge base</a:t>
            </a:r>
          </a:p>
        </p:txBody>
      </p:sp>
      <p:sp>
        <p:nvSpPr>
          <p:cNvPr id="100040" name="T2"/>
          <p:cNvSpPr txBox="1"/>
          <p:nvPr/>
        </p:nvSpPr>
        <p:spPr>
          <a:xfrm xmlns:a="http://schemas.openxmlformats.org/drawingml/2006/main">
            <a:off x="2988000" y="1440000"/>
            <a:ext cx="216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4A148C"/>
                </a:solidFill>
              </a:rPr>
              <a:t>Agentic AI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4A148C"/>
                </a:solidFill>
              </a:rPr>
              <a:t>EcoAgent with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4A148C"/>
                </a:solidFill>
              </a:rPr>
              <a:t>tool use, memory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4A148C"/>
                </a:solidFill>
              </a:rPr>
              <a:t>&amp; adaptive routing</a:t>
            </a:r>
          </a:p>
        </p:txBody>
      </p:sp>
      <p:sp>
        <p:nvSpPr>
          <p:cNvPr id="100041" name="T3"/>
          <p:cNvSpPr txBox="1"/>
          <p:nvPr/>
        </p:nvSpPr>
        <p:spPr>
          <a:xfrm xmlns:a="http://schemas.openxmlformats.org/drawingml/2006/main">
            <a:off x="5436000" y="1440000"/>
            <a:ext cx="216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1A3A6E"/>
                </a:solidFill>
              </a:rPr>
              <a:t>IBM Granite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3A6E"/>
                </a:solidFill>
              </a:rPr>
              <a:t>Enterprise open-source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3A6E"/>
                </a:solidFill>
              </a:rPr>
              <a:t>LLM via Ollama or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3A6E"/>
                </a:solidFill>
              </a:rPr>
              <a:t>watsonx.ai</a:t>
            </a:r>
          </a:p>
        </p:txBody>
      </p:sp>
      <p:sp>
        <p:nvSpPr>
          <p:cNvPr id="100042" name="T4"/>
          <p:cNvSpPr txBox="1"/>
          <p:nvPr/>
        </p:nvSpPr>
        <p:spPr>
          <a:xfrm xmlns:a="http://schemas.openxmlformats.org/drawingml/2006/main">
            <a:off x="7884000" y="1440000"/>
            <a:ext cx="216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Embeddings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all-MiniLM-L6-v2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384-dim vectors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Local CPU — free</a:t>
            </a:r>
          </a:p>
        </p:txBody>
      </p:sp>
      <p:sp>
        <p:nvSpPr>
          <p:cNvPr id="100043" name="T5"/>
          <p:cNvSpPr txBox="1"/>
          <p:nvPr/>
        </p:nvSpPr>
        <p:spPr>
          <a:xfrm xmlns:a="http://schemas.openxmlformats.org/drawingml/2006/main">
            <a:off x="10332000" y="1440000"/>
            <a:ext cx="16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FAISS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Vector similarity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search index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Sub-ms retrieval</a:t>
            </a:r>
          </a:p>
        </p:txBody>
      </p:sp>
      <p:sp>
        <p:nvSpPr>
          <p:cNvPr id="100044" name="IBMBob"/>
          <p:cNvSpPr txBox="1"/>
          <p:nvPr/>
        </p:nvSpPr>
        <p:spPr>
          <a:xfrm xmlns:a="http://schemas.openxmlformats.org/drawingml/2006/main">
            <a:off x="540000" y="4320000"/>
            <a:ext cx="1111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A3A6E"/>
                </a:solidFill>
              </a:rPr>
              <a:t>IBM Bob — AI Development Environment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1A3A6E"/>
                </a:solidFill>
              </a:rPr>
              <a:t>Entire project: designed • coded • validated • documented inside IBM Bob</a:t>
            </a:r>
          </a:p>
        </p:txBody>
      </p:sp>
      <p:sp>
        <p:nvSpPr>
          <p:cNvPr id="100045" name="Stack"/>
          <p:cNvSpPr txBox="1"/>
          <p:nvPr/>
        </p:nvSpPr>
        <p:spPr>
          <a:xfrm xmlns:a="http://schemas.openxmlformats.org/drawingml/2006/main">
            <a:off x="540000" y="5400000"/>
            <a:ext cx="1111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A7A65"/>
                </a:solidFill>
              </a:rPr>
              <a:t>Backend: FastAPI + Uvicorn  •  Frontend: HTML5 / CSS3 / JS  •  Python 3.14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DF8"/>
        </a:solidFill>
      </p:bgPr>
    </p:bg>
    <p:spTree>
      <p:nvGrpSpPr>
        <p:cNvPr id="1" name=""/>
        <p:cNvGrpSpPr/>
        <p:nvPr/>
      </p:nvGrpSpPr>
      <p:grpSpPr/>
      <p:sp>
        <p:nvSpPr>
          <p:cNvPr id="100046" name="Top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7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4731"/>
              </a:solidFill>
            </a:endParaRPr>
          </a:p>
        </p:txBody>
      </p:sp>
      <p:sp>
        <p:nvSpPr>
          <p:cNvPr id="100047" name="SlideLabel"/>
          <p:cNvSpPr txBox="1"/>
          <p:nvPr/>
        </p:nvSpPr>
        <p:spPr>
          <a:xfrm xmlns:a="http://schemas.openxmlformats.org/drawingml/2006/main">
            <a:off x="540000" y="72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A5D6A7"/>
                </a:solidFill>
              </a:rPr>
              <a:t>05  |  TARGET USERS</a:t>
            </a:r>
          </a:p>
        </p:txBody>
      </p:sp>
      <p:sp>
        <p:nvSpPr>
          <p:cNvPr id="100048" name="Title"/>
          <p:cNvSpPr txBox="1"/>
          <p:nvPr/>
        </p:nvSpPr>
        <p:spPr>
          <a:xfrm xmlns:a="http://schemas.openxmlformats.org/drawingml/2006/main">
            <a:off x="540000" y="648000"/>
            <a:ext cx="90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4731"/>
                </a:solidFill>
              </a:rPr>
              <a:t>Who Uses EcoAgent?</a:t>
            </a:r>
          </a:p>
        </p:txBody>
      </p:sp>
      <p:sp>
        <p:nvSpPr>
          <p:cNvPr id="100049" name="GreenLine"/>
          <p:cNvSpPr txBox="1"/>
          <p:nvPr/>
        </p:nvSpPr>
        <p:spPr>
          <a:xfrm xmlns:a="http://schemas.openxmlformats.org/drawingml/2006/main">
            <a:off x="540000" y="1260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50" name="U1"/>
          <p:cNvSpPr txBox="1"/>
          <p:nvPr/>
        </p:nvSpPr>
        <p:spPr>
          <a:xfrm xmlns:a="http://schemas.openxmlformats.org/drawingml/2006/main">
            <a:off x="540000" y="1440000"/>
            <a:ext cx="18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🏠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Eco-Curious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Homeowner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Grants, solar,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energy savings</a:t>
            </a:r>
          </a:p>
        </p:txBody>
      </p:sp>
      <p:sp>
        <p:nvSpPr>
          <p:cNvPr id="100051" name="U2"/>
          <p:cNvSpPr txBox="1"/>
          <p:nvPr/>
        </p:nvSpPr>
        <p:spPr>
          <a:xfrm xmlns:a="http://schemas.openxmlformats.org/drawingml/2006/main">
            <a:off x="2628000" y="1440000"/>
            <a:ext cx="18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🎓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Eco-Conscious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Student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Affordable swaps,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food carbon, travel</a:t>
            </a:r>
          </a:p>
        </p:txBody>
      </p:sp>
      <p:sp>
        <p:nvSpPr>
          <p:cNvPr id="100052" name="U3"/>
          <p:cNvSpPr txBox="1"/>
          <p:nvPr/>
        </p:nvSpPr>
        <p:spPr>
          <a:xfrm xmlns:a="http://schemas.openxmlformats.org/drawingml/2006/main">
            <a:off x="4716000" y="1440000"/>
            <a:ext cx="18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1A3A6E"/>
                </a:solidFill>
              </a:rPr>
              <a:t>💼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3A6E"/>
                </a:solidFill>
              </a:rPr>
              <a:t>Sustainability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3A6E"/>
                </a:solidFill>
              </a:rPr>
              <a:t>Professional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3A6E"/>
                </a:solidFill>
              </a:rPr>
              <a:t>Verified data,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3A6E"/>
                </a:solidFill>
              </a:rPr>
              <a:t>policy &amp; grants</a:t>
            </a:r>
          </a:p>
        </p:txBody>
      </p:sp>
      <p:sp>
        <p:nvSpPr>
          <p:cNvPr id="100053" name="U4"/>
          <p:cNvSpPr txBox="1"/>
          <p:nvPr/>
        </p:nvSpPr>
        <p:spPr>
          <a:xfrm xmlns:a="http://schemas.openxmlformats.org/drawingml/2006/main">
            <a:off x="6804000" y="1440000"/>
            <a:ext cx="18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🏫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Educator &amp;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Community Leader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Clear explanations,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workshop content</a:t>
            </a:r>
          </a:p>
        </p:txBody>
      </p:sp>
      <p:sp>
        <p:nvSpPr>
          <p:cNvPr id="100054" name="U5"/>
          <p:cNvSpPr txBox="1"/>
          <p:nvPr/>
        </p:nvSpPr>
        <p:spPr>
          <a:xfrm xmlns:a="http://schemas.openxmlformats.org/drawingml/2006/main">
            <a:off x="8892000" y="1440000"/>
            <a:ext cx="18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🌱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Sustainability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Beginner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Simple quick wins,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4731"/>
                </a:solidFill>
              </a:rPr>
              <a:t>no jargon</a:t>
            </a:r>
          </a:p>
        </p:txBody>
      </p:sp>
      <p:sp>
        <p:nvSpPr>
          <p:cNvPr id="100055" name="Barriers"/>
          <p:cNvSpPr txBox="1"/>
          <p:nvPr/>
        </p:nvSpPr>
        <p:spPr>
          <a:xfrm xmlns:a="http://schemas.openxmlformats.org/drawingml/2006/main">
            <a:off x="540000" y="432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A4731"/>
                </a:solidFill>
              </a:rPr>
              <a:t>Barriers EcoAgent Removes</a:t>
            </a:r>
          </a:p>
        </p:txBody>
      </p:sp>
      <p:sp>
        <p:nvSpPr>
          <p:cNvPr id="100056" name="B1"/>
          <p:cNvSpPr txBox="1"/>
          <p:nvPr/>
        </p:nvSpPr>
        <p:spPr>
          <a:xfrm xmlns:a="http://schemas.openxmlformats.org/drawingml/2006/main">
            <a:off x="540000" y="4680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B3C"/>
                </a:solidFill>
              </a:rPr>
              <a:t>❌ Info scattered  →  ✅ One interface</a:t>
            </a:r>
          </a:p>
        </p:txBody>
      </p:sp>
      <p:sp>
        <p:nvSpPr>
          <p:cNvPr id="100057" name="B2"/>
          <p:cNvSpPr txBox="1"/>
          <p:nvPr/>
        </p:nvSpPr>
        <p:spPr>
          <a:xfrm xmlns:a="http://schemas.openxmlformats.org/drawingml/2006/main">
            <a:off x="540000" y="5076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B3C"/>
                </a:solidFill>
              </a:rPr>
              <a:t>❌ Unclear impact  →  ✅ CO₂ figures on every answer</a:t>
            </a:r>
          </a:p>
        </p:txBody>
      </p:sp>
      <p:sp>
        <p:nvSpPr>
          <p:cNvPr id="100058" name="B3"/>
          <p:cNvSpPr txBox="1"/>
          <p:nvPr/>
        </p:nvSpPr>
        <p:spPr>
          <a:xfrm xmlns:a="http://schemas.openxmlformats.org/drawingml/2006/main">
            <a:off x="5940000" y="4680000"/>
            <a:ext cx="54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B3C"/>
                </a:solidFill>
              </a:rPr>
              <a:t>❌ AI hallucination  →  ✅ RAG-grounded facts</a:t>
            </a:r>
          </a:p>
        </p:txBody>
      </p:sp>
      <p:sp>
        <p:nvSpPr>
          <p:cNvPr id="100059" name="B4"/>
          <p:cNvSpPr txBox="1"/>
          <p:nvPr/>
        </p:nvSpPr>
        <p:spPr>
          <a:xfrm xmlns:a="http://schemas.openxmlformats.org/drawingml/2006/main">
            <a:off x="5940000" y="5076000"/>
            <a:ext cx="54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B3C"/>
                </a:solidFill>
              </a:rPr>
              <a:t>❌ Feels overwhelming  →  ✅ One Quick Win per answer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A4731"/>
        </a:solidFill>
      </p:bgPr>
    </p:bg>
    <p:spTree>
      <p:nvGrpSpPr>
        <p:cNvPr id="1" name=""/>
        <p:cNvGrpSpPr/>
        <p:nvPr/>
      </p:nvGrpSpPr>
      <p:grpSpPr/>
      <p:sp>
        <p:nvSpPr>
          <p:cNvPr id="100060" name="TopAccent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61" name="SlideLabel"/>
          <p:cNvSpPr txBox="1"/>
          <p:nvPr/>
        </p:nvSpPr>
        <p:spPr>
          <a:xfrm xmlns:a="http://schemas.openxmlformats.org/drawingml/2006/main">
            <a:off x="540000" y="360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C784"/>
                </a:solidFill>
              </a:rPr>
              <a:t>06  |  SDG ALIGNMENT</a:t>
            </a:r>
          </a:p>
        </p:txBody>
      </p:sp>
      <p:sp>
        <p:nvSpPr>
          <p:cNvPr id="100062" name="Title"/>
          <p:cNvSpPr txBox="1"/>
          <p:nvPr/>
        </p:nvSpPr>
        <p:spPr>
          <a:xfrm xmlns:a="http://schemas.openxmlformats.org/drawingml/2006/main">
            <a:off x="540000" y="72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A5D6A7"/>
                </a:solidFill>
              </a:rPr>
              <a:t>10 SDGs Addressed</a:t>
            </a:r>
          </a:p>
        </p:txBody>
      </p:sp>
      <p:sp>
        <p:nvSpPr>
          <p:cNvPr id="100063" name="Primary"/>
          <p:cNvSpPr txBox="1"/>
          <p:nvPr/>
        </p:nvSpPr>
        <p:spPr>
          <a:xfrm xmlns:a="http://schemas.openxmlformats.org/drawingml/2006/main">
            <a:off x="540000" y="1548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81C784"/>
                </a:solidFill>
              </a:rPr>
              <a:t>PRIMARY SDGs (Core Mission)</a:t>
            </a:r>
          </a:p>
        </p:txBody>
      </p:sp>
      <p:sp>
        <p:nvSpPr>
          <p:cNvPr id="100064" name="SDG7"/>
          <p:cNvSpPr txBox="1"/>
          <p:nvPr/>
        </p:nvSpPr>
        <p:spPr>
          <a:xfrm xmlns:a="http://schemas.openxmlformats.org/drawingml/2006/main">
            <a:off x="540000" y="1908000"/>
            <a:ext cx="25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3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1A2A00"/>
                </a:solidFill>
              </a:rPr>
              <a:t>SDG 7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2A00"/>
                </a:solidFill>
              </a:rPr>
              <a:t>Clean Energy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2A00"/>
                </a:solidFill>
              </a:rPr>
              <a:t>Solar, heat pumps,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1A2A00"/>
                </a:solidFill>
              </a:rPr>
              <a:t>energy efficiency</a:t>
            </a:r>
          </a:p>
        </p:txBody>
      </p:sp>
      <p:sp>
        <p:nvSpPr>
          <p:cNvPr id="100065" name="SDG12"/>
          <p:cNvSpPr txBox="1"/>
          <p:nvPr/>
        </p:nvSpPr>
        <p:spPr>
          <a:xfrm xmlns:a="http://schemas.openxmlformats.org/drawingml/2006/main">
            <a:off x="3348000" y="1908000"/>
            <a:ext cx="25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B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SDG 12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Responsible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Consumption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Waste, plastics,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circular economy</a:t>
            </a:r>
          </a:p>
        </p:txBody>
      </p:sp>
      <p:sp>
        <p:nvSpPr>
          <p:cNvPr id="100066" name="SDG13"/>
          <p:cNvSpPr txBox="1"/>
          <p:nvPr/>
        </p:nvSpPr>
        <p:spPr>
          <a:xfrm xmlns:a="http://schemas.openxmlformats.org/drawingml/2006/main">
            <a:off x="6156000" y="1908000"/>
            <a:ext cx="25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SDG 13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Climate Action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Carbon footprint,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Paris Agreement</a:t>
            </a:r>
          </a:p>
        </p:txBody>
      </p:sp>
      <p:sp>
        <p:nvSpPr>
          <p:cNvPr id="100067" name="SDG15"/>
          <p:cNvSpPr txBox="1"/>
          <p:nvPr/>
        </p:nvSpPr>
        <p:spPr>
          <a:xfrm xmlns:a="http://schemas.openxmlformats.org/drawingml/2006/main">
            <a:off x="8964000" y="1908000"/>
            <a:ext cx="25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0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SDG 15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Life on Land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Biodiversity,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wildlife gardening</a:t>
            </a:r>
          </a:p>
        </p:txBody>
      </p:sp>
      <p:sp>
        <p:nvSpPr>
          <p:cNvPr id="100068" name="Supporting"/>
          <p:cNvSpPr txBox="1"/>
          <p:nvPr/>
        </p:nvSpPr>
        <p:spPr>
          <a:xfrm xmlns:a="http://schemas.openxmlformats.org/drawingml/2006/main">
            <a:off x="540000" y="3744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81C784"/>
                </a:solidFill>
              </a:rPr>
              <a:t>SUPPORTING SDGs</a:t>
            </a:r>
          </a:p>
        </p:txBody>
      </p:sp>
      <p:sp>
        <p:nvSpPr>
          <p:cNvPr id="100069" name="SupportRow"/>
          <p:cNvSpPr txBox="1"/>
          <p:nvPr/>
        </p:nvSpPr>
        <p:spPr>
          <a:xfrm xmlns:a="http://schemas.openxmlformats.org/drawingml/2006/main">
            <a:off x="540000" y="4104000"/>
            <a:ext cx="1111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C8E6C9"/>
                </a:solidFill>
              </a:rPr>
              <a:t>SDG 3  Good Health     |     SDG 4  Quality Education     |     SDG 6  Clean Water     |     SDG 11  Sustainable Cities     |     SDG 14  Life Below Water     |     SDG 17  Partnerships</a:t>
            </a:r>
          </a:p>
        </p:txBody>
      </p:sp>
      <p:sp>
        <p:nvSpPr>
          <p:cNvPr id="100070" name="Bottom"/>
          <p:cNvSpPr txBox="1"/>
          <p:nvPr/>
        </p:nvSpPr>
        <p:spPr>
          <a:xfrm xmlns:a="http://schemas.openxmlformats.org/drawingml/2006/main">
            <a:off x="540000" y="5220000"/>
            <a:ext cx="1111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A5D6A7"/>
                </a:solidFill>
              </a:rPr>
              <a:t>10 of 17 SDGs directly addressed — connecting individual daily actions to the 2030 Agenda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DF8"/>
        </a:solidFill>
      </p:bgPr>
    </p:bg>
    <p:spTree>
      <p:nvGrpSpPr>
        <p:cNvPr id="1" name=""/>
        <p:cNvGrpSpPr/>
        <p:nvPr/>
      </p:nvGrpSpPr>
      <p:grpSpPr/>
      <p:sp>
        <p:nvSpPr>
          <p:cNvPr id="100071" name="Top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7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4731"/>
              </a:solidFill>
            </a:endParaRPr>
          </a:p>
        </p:txBody>
      </p:sp>
      <p:sp>
        <p:nvSpPr>
          <p:cNvPr id="100072" name="SlideLabel"/>
          <p:cNvSpPr txBox="1"/>
          <p:nvPr/>
        </p:nvSpPr>
        <p:spPr>
          <a:xfrm xmlns:a="http://schemas.openxmlformats.org/drawingml/2006/main">
            <a:off x="540000" y="72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A5D6A7"/>
                </a:solidFill>
              </a:rPr>
              <a:t>07  |  KNOWLEDGE BASE</a:t>
            </a:r>
          </a:p>
        </p:txBody>
      </p:sp>
      <p:sp>
        <p:nvSpPr>
          <p:cNvPr id="100073" name="Title"/>
          <p:cNvSpPr txBox="1"/>
          <p:nvPr/>
        </p:nvSpPr>
        <p:spPr>
          <a:xfrm xmlns:a="http://schemas.openxmlformats.org/drawingml/2006/main">
            <a:off x="540000" y="648000"/>
            <a:ext cx="90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4731"/>
                </a:solidFill>
              </a:rPr>
              <a:t>What EcoAgent Knows</a:t>
            </a:r>
          </a:p>
        </p:txBody>
      </p:sp>
      <p:sp>
        <p:nvSpPr>
          <p:cNvPr id="100074" name="GreenLine"/>
          <p:cNvSpPr txBox="1"/>
          <p:nvPr/>
        </p:nvSpPr>
        <p:spPr>
          <a:xfrm xmlns:a="http://schemas.openxmlformats.org/drawingml/2006/main">
            <a:off x="540000" y="1260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75" name="K1"/>
          <p:cNvSpPr txBox="1"/>
          <p:nvPr/>
        </p:nvSpPr>
        <p:spPr>
          <a:xfrm xmlns:a="http://schemas.openxmlformats.org/drawingml/2006/main">
            <a:off x="540000" y="1440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♻️  Reducing Plastic Use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Single-use alternatives, UK DRS, soft plastic recycling</a:t>
            </a:r>
          </a:p>
        </p:txBody>
      </p:sp>
      <p:sp>
        <p:nvSpPr>
          <p:cNvPr id="100076" name="K2"/>
          <p:cNvSpPr txBox="1"/>
          <p:nvPr/>
        </p:nvSpPr>
        <p:spPr>
          <a:xfrm xmlns:a="http://schemas.openxmlformats.org/drawingml/2006/main">
            <a:off x="540000" y="2124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⚡  Home Energy &amp; Renewables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Solar PV, heat pumps, insulation, Smart Export Guarantee</a:t>
            </a:r>
          </a:p>
        </p:txBody>
      </p:sp>
      <p:sp>
        <p:nvSpPr>
          <p:cNvPr id="100077" name="K3"/>
          <p:cNvSpPr txBox="1"/>
          <p:nvPr/>
        </p:nvSpPr>
        <p:spPr>
          <a:xfrm xmlns:a="http://schemas.openxmlformats.org/drawingml/2006/main">
            <a:off x="540000" y="2808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🚲  Sustainable Travel &amp; EVs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Carbon by mode, EV grants, trains vs flights</a:t>
            </a:r>
          </a:p>
        </p:txBody>
      </p:sp>
      <p:sp>
        <p:nvSpPr>
          <p:cNvPr id="100078" name="K4"/>
          <p:cNvSpPr txBox="1"/>
          <p:nvPr/>
        </p:nvSpPr>
        <p:spPr>
          <a:xfrm xmlns:a="http://schemas.openxmlformats.org/drawingml/2006/main">
            <a:off x="540000" y="3492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🪱  Recycling, Waste &amp; Composting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Waste hierarchy, what to recycle, Bokashi, wormeries</a:t>
            </a:r>
          </a:p>
        </p:txBody>
      </p:sp>
      <p:sp>
        <p:nvSpPr>
          <p:cNvPr id="100079" name="K5"/>
          <p:cNvSpPr txBox="1"/>
          <p:nvPr/>
        </p:nvSpPr>
        <p:spPr>
          <a:xfrm xmlns:a="http://schemas.openxmlformats.org/drawingml/2006/main">
            <a:off x="540000" y="4176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🥗  Sustainable Diet &amp; Food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Carbon footprint by food, plant-based eating, seasonal buying</a:t>
            </a:r>
          </a:p>
        </p:txBody>
      </p:sp>
      <p:sp>
        <p:nvSpPr>
          <p:cNvPr id="100080" name="K6"/>
          <p:cNvSpPr txBox="1"/>
          <p:nvPr/>
        </p:nvSpPr>
        <p:spPr>
          <a:xfrm xmlns:a="http://schemas.openxmlformats.org/drawingml/2006/main">
            <a:off x="6480000" y="1440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🛍️  Eco Products &amp; Shopping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FSC, B Corp, Fair Trade, sustainable fashion</a:t>
            </a:r>
          </a:p>
        </p:txBody>
      </p:sp>
      <p:sp>
        <p:nvSpPr>
          <p:cNvPr id="100081" name="K7"/>
          <p:cNvSpPr txBox="1"/>
          <p:nvPr/>
        </p:nvSpPr>
        <p:spPr>
          <a:xfrm xmlns:a="http://schemas.openxmlformats.org/drawingml/2006/main">
            <a:off x="6480000" y="2124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💧  Water Conservation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Indoor &amp; outdoor tips, virtual water, WaterSense</a:t>
            </a:r>
          </a:p>
        </p:txBody>
      </p:sp>
      <p:sp>
        <p:nvSpPr>
          <p:cNvPr id="100082" name="K8"/>
          <p:cNvSpPr txBox="1"/>
          <p:nvPr/>
        </p:nvSpPr>
        <p:spPr>
          <a:xfrm xmlns:a="http://schemas.openxmlformats.org/drawingml/2006/main">
            <a:off x="6480000" y="2808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🏛️  Government Schemes &amp; Grants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ECO4, BUS, IRA, EU Green Deal, 30+ schemes covered</a:t>
            </a:r>
          </a:p>
        </p:txBody>
      </p:sp>
      <p:sp>
        <p:nvSpPr>
          <p:cNvPr id="100083" name="K9"/>
          <p:cNvSpPr txBox="1"/>
          <p:nvPr/>
        </p:nvSpPr>
        <p:spPr>
          <a:xfrm xmlns:a="http://schemas.openxmlformats.org/drawingml/2006/main">
            <a:off x="6480000" y="3492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🦋  Biodiversity &amp; Wildlife Gardening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Wildlife ponds, native plants, citizen science</a:t>
            </a:r>
          </a:p>
        </p:txBody>
      </p:sp>
      <p:sp>
        <p:nvSpPr>
          <p:cNvPr id="100084" name="K10"/>
          <p:cNvSpPr txBox="1"/>
          <p:nvPr/>
        </p:nvSpPr>
        <p:spPr>
          <a:xfrm xmlns:a="http://schemas.openxmlformats.org/drawingml/2006/main">
            <a:off x="6480000" y="4176000"/>
            <a:ext cx="540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🌍  Personal Carbon Footprint</a:t>
            </a:r>
          </a:p>
          <a:p xmlns:a="http://schemas.openxmlformats.org/drawingml/2006/main">
            <a:r>
              <a:rPr lang="en-US" sz="1300">
                <a:solidFill>
                  <a:srgbClr val="374B3C"/>
                </a:solidFill>
              </a:rPr>
              <a:t>High-impact actions, carbon calculators, offsetting</a:t>
            </a:r>
          </a:p>
        </p:txBody>
      </p:sp>
      <p:sp>
        <p:nvSpPr>
          <p:cNvPr id="100085" name="Stats"/>
          <p:cNvSpPr txBox="1"/>
          <p:nvPr/>
        </p:nvSpPr>
        <p:spPr>
          <a:xfrm xmlns:a="http://schemas.openxmlformats.org/drawingml/2006/main">
            <a:off x="540000" y="5076000"/>
            <a:ext cx="1111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2D6A4F"/>
                </a:solidFill>
              </a:rPr>
              <a:t>10 topics  •  22 indexed chunks  •  ~6,000 words of curated expert content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DF8"/>
        </a:solidFill>
      </p:bgPr>
    </p:bg>
    <p:spTree>
      <p:nvGrpSpPr>
        <p:cNvPr id="1" name=""/>
        <p:cNvGrpSpPr/>
        <p:nvPr/>
      </p:nvGrpSpPr>
      <p:grpSpPr/>
      <p:sp>
        <p:nvSpPr>
          <p:cNvPr id="100086" name="Top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7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4731"/>
              </a:solidFill>
            </a:endParaRPr>
          </a:p>
        </p:txBody>
      </p:sp>
      <p:sp>
        <p:nvSpPr>
          <p:cNvPr id="100087" name="SlideLabel"/>
          <p:cNvSpPr txBox="1"/>
          <p:nvPr/>
        </p:nvSpPr>
        <p:spPr>
          <a:xfrm xmlns:a="http://schemas.openxmlformats.org/drawingml/2006/main">
            <a:off x="540000" y="72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A5D6A7"/>
                </a:solidFill>
              </a:rPr>
              <a:t>08  |  IMPACT</a:t>
            </a:r>
          </a:p>
        </p:txBody>
      </p:sp>
      <p:sp>
        <p:nvSpPr>
          <p:cNvPr id="100088" name="Title"/>
          <p:cNvSpPr txBox="1"/>
          <p:nvPr/>
        </p:nvSpPr>
        <p:spPr>
          <a:xfrm xmlns:a="http://schemas.openxmlformats.org/drawingml/2006/main">
            <a:off x="540000" y="648000"/>
            <a:ext cx="90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4731"/>
                </a:solidFill>
              </a:rPr>
              <a:t>Anticipated Impact</a:t>
            </a:r>
          </a:p>
        </p:txBody>
      </p:sp>
      <p:sp>
        <p:nvSpPr>
          <p:cNvPr id="100089" name="GreenLine"/>
          <p:cNvSpPr txBox="1"/>
          <p:nvPr/>
        </p:nvSpPr>
        <p:spPr>
          <a:xfrm xmlns:a="http://schemas.openxmlformats.org/drawingml/2006/main">
            <a:off x="540000" y="1260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90" name="I1"/>
          <p:cNvSpPr txBox="1"/>
          <p:nvPr/>
        </p:nvSpPr>
        <p:spPr>
          <a:xfrm xmlns:a="http://schemas.openxmlformats.org/drawingml/2006/main">
            <a:off x="540000" y="1440000"/>
            <a:ext cx="27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1.5 tonnes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CO₂e saved per year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by a user who shifts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to a plant-based diet</a:t>
            </a:r>
          </a:p>
        </p:txBody>
      </p:sp>
      <p:sp>
        <p:nvSpPr>
          <p:cNvPr id="100091" name="I2"/>
          <p:cNvSpPr txBox="1"/>
          <p:nvPr/>
        </p:nvSpPr>
        <p:spPr>
          <a:xfrm xmlns:a="http://schemas.openxmlformats.org/drawingml/2006/main">
            <a:off x="3528000" y="1440000"/>
            <a:ext cx="27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£800/year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food waste savings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per household when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reducing food waste</a:t>
            </a:r>
          </a:p>
        </p:txBody>
      </p:sp>
      <p:sp>
        <p:nvSpPr>
          <p:cNvPr id="100092" name="I3"/>
          <p:cNvSpPr txBox="1"/>
          <p:nvPr/>
        </p:nvSpPr>
        <p:spPr>
          <a:xfrm xmlns:a="http://schemas.openxmlformats.org/drawingml/2006/main">
            <a:off x="6516000" y="1440000"/>
            <a:ext cx="27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3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700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single-use plastic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bags saved per person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per year</a:t>
            </a:r>
          </a:p>
        </p:txBody>
      </p:sp>
      <p:sp>
        <p:nvSpPr>
          <p:cNvPr id="100093" name="I4"/>
          <p:cNvSpPr txBox="1"/>
          <p:nvPr/>
        </p:nvSpPr>
        <p:spPr>
          <a:xfrm xmlns:a="http://schemas.openxmlformats.org/drawingml/2006/main">
            <a:off x="9504000" y="1440000"/>
            <a:ext cx="23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A3A6E"/>
                </a:solidFill>
              </a:rPr>
              <a:t>£7,500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3A6E"/>
                </a:solidFill>
              </a:rPr>
              <a:t>UK heat pump grant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3A6E"/>
                </a:solidFill>
              </a:rPr>
              <a:t>users can access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1A3A6E"/>
                </a:solidFill>
              </a:rPr>
              <a:t>via agent guidance</a:t>
            </a:r>
          </a:p>
        </p:txBody>
      </p:sp>
      <p:sp>
        <p:nvSpPr>
          <p:cNvPr id="100094" name="ImpactTitle"/>
          <p:cNvSpPr txBox="1"/>
          <p:nvPr/>
        </p:nvSpPr>
        <p:spPr>
          <a:xfrm xmlns:a="http://schemas.openxmlformats.org/drawingml/2006/main">
            <a:off x="540000" y="3600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A4731"/>
                </a:solidFill>
              </a:rPr>
              <a:t>Broader Societal Impact</a:t>
            </a:r>
          </a:p>
        </p:txBody>
      </p:sp>
      <p:sp>
        <p:nvSpPr>
          <p:cNvPr id="100095" name="IL"/>
          <p:cNvSpPr txBox="1"/>
          <p:nvPr/>
        </p:nvSpPr>
        <p:spPr>
          <a:xfrm xmlns:a="http://schemas.openxmlformats.org/drawingml/2006/main">
            <a:off x="540000" y="3996000"/>
            <a:ext cx="54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74B3C"/>
                </a:solidFill>
              </a:rPr>
              <a:t>• Raises climate literacy across all demographics</a:t>
            </a:r>
          </a:p>
          <a:p xmlns:a="http://schemas.openxmlformats.org/drawingml/2006/main">
            <a:r>
              <a:rPr lang="en-US" sz="1500">
                <a:solidFill>
                  <a:srgbClr val="374B3C"/>
                </a:solidFill>
              </a:rPr>
              <a:t>• Democratises access to expert sustainability knowledge</a:t>
            </a:r>
          </a:p>
          <a:p xmlns:a="http://schemas.openxmlformats.org/drawingml/2006/main">
            <a:r>
              <a:rPr lang="en-US" sz="1500">
                <a:solidFill>
                  <a:srgbClr val="374B3C"/>
                </a:solidFill>
              </a:rPr>
              <a:t>• Reduces friction between intention and eco-action</a:t>
            </a:r>
          </a:p>
          <a:p xmlns:a="http://schemas.openxmlformats.org/drawingml/2006/main">
            <a:r>
              <a:rPr lang="en-US" sz="1500">
                <a:solidFill>
                  <a:srgbClr val="374B3C"/>
                </a:solidFill>
              </a:rPr>
              <a:t>• Connects individuals to government grants they didn't know existed</a:t>
            </a:r>
          </a:p>
        </p:txBody>
      </p:sp>
      <p:sp>
        <p:nvSpPr>
          <p:cNvPr id="100096" name="IR"/>
          <p:cNvSpPr txBox="1"/>
          <p:nvPr/>
        </p:nvSpPr>
        <p:spPr>
          <a:xfrm xmlns:a="http://schemas.openxmlformats.org/drawingml/2006/main">
            <a:off x="6300000" y="3996000"/>
            <a:ext cx="54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74B3C"/>
                </a:solidFill>
              </a:rPr>
              <a:t>• Scalable — millions of users, same infrastructure</a:t>
            </a:r>
          </a:p>
          <a:p xmlns:a="http://schemas.openxmlformats.org/drawingml/2006/main">
            <a:r>
              <a:rPr lang="en-US" sz="1500">
                <a:solidFill>
                  <a:srgbClr val="374B3C"/>
                </a:solidFill>
              </a:rPr>
              <a:t>• No subscription or account needed</a:t>
            </a:r>
          </a:p>
          <a:p xmlns:a="http://schemas.openxmlformats.org/drawingml/2006/main">
            <a:r>
              <a:rPr lang="en-US" sz="1500">
                <a:solidFill>
                  <a:srgbClr val="374B3C"/>
                </a:solidFill>
              </a:rPr>
              <a:t>• Works offline with zero API key (context-only mode)</a:t>
            </a:r>
          </a:p>
          <a:p xmlns:a="http://schemas.openxmlformats.org/drawingml/2006/main">
            <a:r>
              <a:rPr lang="en-US" sz="1500">
                <a:solidFill>
                  <a:srgbClr val="374B3C"/>
                </a:solidFill>
              </a:rPr>
              <a:t>• 10 SDGs advanced through one conversational tool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4731"/>
        </a:solidFill>
      </p:bgPr>
    </p:bg>
    <p:spTree>
      <p:nvGrpSpPr>
        <p:cNvPr id="1" name=""/>
        <p:cNvGrpSpPr/>
        <p:nvPr/>
      </p:nvGrpSpPr>
      <p:grpSpPr/>
      <p:sp>
        <p:nvSpPr>
          <p:cNvPr id="100097" name="TopAccent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098" name="SlideLabel"/>
          <p:cNvSpPr txBox="1"/>
          <p:nvPr/>
        </p:nvSpPr>
        <p:spPr>
          <a:xfrm xmlns:a="http://schemas.openxmlformats.org/drawingml/2006/main">
            <a:off x="540000" y="360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C784"/>
                </a:solidFill>
              </a:rPr>
              <a:t>09  |  DEMO &amp; HOW TO RUN</a:t>
            </a:r>
          </a:p>
        </p:txBody>
      </p:sp>
      <p:sp>
        <p:nvSpPr>
          <p:cNvPr id="100099" name="Title"/>
          <p:cNvSpPr txBox="1"/>
          <p:nvPr/>
        </p:nvSpPr>
        <p:spPr>
          <a:xfrm xmlns:a="http://schemas.openxmlformats.org/drawingml/2006/main">
            <a:off x="540000" y="720000"/>
            <a:ext cx="90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A5D6A7"/>
                </a:solidFill>
              </a:rPr>
              <a:t>Run It in 2 Steps</a:t>
            </a:r>
          </a:p>
        </p:txBody>
      </p:sp>
      <p:sp>
        <p:nvSpPr>
          <p:cNvPr id="100100" name="Step1Box"/>
          <p:cNvSpPr txBox="1"/>
          <p:nvPr/>
        </p:nvSpPr>
        <p:spPr>
          <a:xfrm xmlns:a="http://schemas.openxmlformats.org/drawingml/2006/main">
            <a:off x="540000" y="1620000"/>
            <a:ext cx="54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C8E6C9"/>
                </a:solidFill>
              </a:rPr>
              <a:t>Step 1 — Start the server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C8E6C9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800">
                <a:solidFill>
                  <a:srgbClr val="C8E6C9"/>
                </a:solidFill>
              </a:rPr>
              <a:t>.venv\Scripts\python.exe main.py</a:t>
            </a:r>
          </a:p>
        </p:txBody>
      </p:sp>
      <p:sp>
        <p:nvSpPr>
          <p:cNvPr id="100101" name="Step2Box"/>
          <p:cNvSpPr txBox="1"/>
          <p:nvPr/>
        </p:nvSpPr>
        <p:spPr>
          <a:xfrm xmlns:a="http://schemas.openxmlformats.org/drawingml/2006/main">
            <a:off x="6300000" y="1620000"/>
            <a:ext cx="54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C8E6C9"/>
                </a:solidFill>
              </a:rPr>
              <a:t>Step 2 — Open your browser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C8E6C9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800">
                <a:solidFill>
                  <a:srgbClr val="C8E6C9"/>
                </a:solidFill>
              </a:rPr>
              <a:t>http://localhost:8000</a:t>
            </a:r>
          </a:p>
        </p:txBody>
      </p:sp>
      <p:sp>
        <p:nvSpPr>
          <p:cNvPr id="100102" name="GraniteBox"/>
          <p:cNvSpPr txBox="1"/>
          <p:nvPr/>
        </p:nvSpPr>
        <p:spPr>
          <a:xfrm xmlns:a="http://schemas.openxmlformats.org/drawingml/2006/main">
            <a:off x="540000" y="3600000"/>
            <a:ext cx="111132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C8E6C9"/>
                </a:solidFill>
              </a:rPr>
              <a:t>For IBM Granite (recommended):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C8E6C9"/>
                </a:solidFill>
              </a:rPr>
              <a:t>ollama pull granite3.1-dense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C8E6C9"/>
                </a:solidFill>
              </a:rPr>
              <a:t>Set LLM_PROVIDER=ollama in .env</a:t>
            </a:r>
          </a:p>
        </p:txBody>
      </p:sp>
      <p:sp>
        <p:nvSpPr>
          <p:cNvPr id="100103" name="SampleQs"/>
          <p:cNvSpPr txBox="1"/>
          <p:nvPr/>
        </p:nvSpPr>
        <p:spPr>
          <a:xfrm xmlns:a="http://schemas.openxmlformats.org/drawingml/2006/main">
            <a:off x="540000" y="486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81C784"/>
                </a:solidFill>
              </a:rPr>
              <a:t>Sample Questions to Try:</a:t>
            </a:r>
          </a:p>
        </p:txBody>
      </p:sp>
      <p:sp>
        <p:nvSpPr>
          <p:cNvPr id="100104" name="Q1"/>
          <p:cNvSpPr txBox="1"/>
          <p:nvPr/>
        </p:nvSpPr>
        <p:spPr>
          <a:xfrm xmlns:a="http://schemas.openxmlformats.org/drawingml/2006/main">
            <a:off x="540000" y="5220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8E6C9"/>
                </a:solidFill>
              </a:rPr>
              <a:t>"How can I reduce plastic use at home?"</a:t>
            </a:r>
          </a:p>
        </p:txBody>
      </p:sp>
      <p:sp>
        <p:nvSpPr>
          <p:cNvPr id="100105" name="Q2"/>
          <p:cNvSpPr txBox="1"/>
          <p:nvPr/>
        </p:nvSpPr>
        <p:spPr>
          <a:xfrm xmlns:a="http://schemas.openxmlformats.org/drawingml/2006/main">
            <a:off x="540000" y="5616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8E6C9"/>
                </a:solidFill>
              </a:rPr>
              <a:t>"What UK grants exist for solar panels?"</a:t>
            </a:r>
          </a:p>
        </p:txBody>
      </p:sp>
      <p:sp>
        <p:nvSpPr>
          <p:cNvPr id="100106" name="Q3"/>
          <p:cNvSpPr txBox="1"/>
          <p:nvPr/>
        </p:nvSpPr>
        <p:spPr>
          <a:xfrm xmlns:a="http://schemas.openxmlformats.org/drawingml/2006/main">
            <a:off x="5940000" y="5220000"/>
            <a:ext cx="57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8E6C9"/>
                </a:solidFill>
              </a:rPr>
              <a:t>"Which foods have the highest carbon footprint?"</a:t>
            </a:r>
          </a:p>
        </p:txBody>
      </p:sp>
      <p:sp>
        <p:nvSpPr>
          <p:cNvPr id="100107" name="Q4"/>
          <p:cNvSpPr txBox="1"/>
          <p:nvPr/>
        </p:nvSpPr>
        <p:spPr>
          <a:xfrm xmlns:a="http://schemas.openxmlformats.org/drawingml/2006/main">
            <a:off x="5940000" y="5616000"/>
            <a:ext cx="576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8E6C9"/>
                </a:solidFill>
              </a:rPr>
              <a:t>"How do I start composting at home?"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A4731"/>
        </a:solidFill>
      </p:bgPr>
    </p:bg>
    <p:spTree>
      <p:nvGrpSpPr>
        <p:cNvPr id="1" name=""/>
        <p:cNvGrpSpPr/>
        <p:nvPr/>
      </p:nvGrpSpPr>
      <p:grpSpPr/>
      <p:sp>
        <p:nvSpPr>
          <p:cNvPr id="100108" name="TopAccent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109" name="Icon"/>
          <p:cNvSpPr txBox="1"/>
          <p:nvPr/>
        </p:nvSpPr>
        <p:spPr>
          <a:xfrm xmlns:a="http://schemas.openxmlformats.org/drawingml/2006/main">
            <a:off x="5040000" y="720000"/>
            <a:ext cx="216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>
                <a:solidFill>
                  <a:srgbClr val="A5D6A7"/>
                </a:solidFill>
              </a:rPr>
              <a:t>🌿</a:t>
            </a:r>
          </a:p>
        </p:txBody>
      </p:sp>
      <p:sp>
        <p:nvSpPr>
          <p:cNvPr id="100110" name="Title"/>
          <p:cNvSpPr txBox="1"/>
          <p:nvPr/>
        </p:nvSpPr>
        <p:spPr>
          <a:xfrm xmlns:a="http://schemas.openxmlformats.org/drawingml/2006/main">
            <a:off x="720000" y="1980000"/>
            <a:ext cx="107532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A5D6A7"/>
                </a:solidFill>
              </a:rPr>
              <a:t>Thank You</a:t>
            </a:r>
          </a:p>
        </p:txBody>
      </p:sp>
      <p:sp>
        <p:nvSpPr>
          <p:cNvPr id="100111" name="Sub"/>
          <p:cNvSpPr txBox="1"/>
          <p:nvPr/>
        </p:nvSpPr>
        <p:spPr>
          <a:xfrm xmlns:a="http://schemas.openxmlformats.org/drawingml/2006/main">
            <a:off x="720000" y="2988000"/>
            <a:ext cx="107532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C8E6C9"/>
                </a:solidFill>
              </a:rPr>
              <a:t>Making sustainability easy, accessible and impactful for everyone</a:t>
            </a:r>
          </a:p>
        </p:txBody>
      </p:sp>
      <p:sp>
        <p:nvSpPr>
          <p:cNvPr id="100112" name="Divider"/>
          <p:cNvSpPr txBox="1"/>
          <p:nvPr/>
        </p:nvSpPr>
        <p:spPr>
          <a:xfrm xmlns:a="http://schemas.openxmlformats.org/drawingml/2006/main">
            <a:off x="4320000" y="3780000"/>
            <a:ext cx="35532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2B788"/>
              </a:solidFill>
            </a:endParaRPr>
          </a:p>
        </p:txBody>
      </p:sp>
      <p:sp>
        <p:nvSpPr>
          <p:cNvPr id="100113" name="Built"/>
          <p:cNvSpPr txBox="1"/>
          <p:nvPr/>
        </p:nvSpPr>
        <p:spPr>
          <a:xfrm xmlns:a="http://schemas.openxmlformats.org/drawingml/2006/main">
            <a:off x="720000" y="4032000"/>
            <a:ext cx="1075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81C784"/>
                </a:solidFill>
              </a:rPr>
              <a:t>Built with IBM Bob  •  Powered by IBM Granite  •  RAG + Agentic AI</a:t>
            </a:r>
          </a:p>
        </p:txBody>
      </p:sp>
      <p:sp>
        <p:nvSpPr>
          <p:cNvPr id="100114" name="SDGLine"/>
          <p:cNvSpPr txBox="1"/>
          <p:nvPr/>
        </p:nvSpPr>
        <p:spPr>
          <a:xfrm xmlns:a="http://schemas.openxmlformats.org/drawingml/2006/main">
            <a:off x="720000" y="4536000"/>
            <a:ext cx="107532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81C784"/>
                </a:solidFill>
              </a:rPr>
              <a:t>Addressing 10 of 17 UN Sustainable Development Goals</a:t>
            </a:r>
          </a:p>
        </p:txBody>
      </p:sp>
      <p:sp>
        <p:nvSpPr>
          <p:cNvPr id="100115" name="RunCmd"/>
          <p:cNvSpPr txBox="1"/>
          <p:nvPr/>
        </p:nvSpPr>
        <p:spPr>
          <a:xfrm xmlns:a="http://schemas.openxmlformats.org/drawingml/2006/main">
            <a:off x="1440000" y="5220000"/>
            <a:ext cx="931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6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A4731"/>
                </a:solidFill>
              </a:rPr>
              <a:t>Run:  .venv\Scripts\python.exe main.py   →   http://localhost:8000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2026-09-18T16:30:13Z</dcterms:created>
  <cp:lastModifiedBy>OfficeCLI</cp:lastModifiedBy>
  <dcterms:modified xsi:type="dcterms:W3CDTF">2026-09-18T16:30:13Z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2026-09-18T16:36:42Z</vt:lpwstr>
  </op:property>
</op:Properties>
</file>